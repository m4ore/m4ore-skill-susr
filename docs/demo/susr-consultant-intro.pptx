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軟正黑體"/>
              </a:rPr>
              <a:t>susr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8F0EB"/>
                </a:solidFill>
                <a:latin typeface="微軟正黑體"/>
              </a:rPr>
              <a:t>Sustainability Brain for ESG Consultants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222222"/>
                </a:solidFill>
                <a:latin typeface="微軟正黑體"/>
              </a:rPr>
              <a:t>顧問的 ESG 第二大腦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555555"/>
                </a:solidFill>
                <a:latin typeface="微軟正黑體"/>
              </a:rPr>
              <a:t>把 40-80 小時的永續報告書，壓縮到 8-15 小時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對象：ESG 顧問 / 永續顧問公司   ·   M4ORE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顧問的真實痛點：一份報告書 40-80 小時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5F4A"/>
                </a:solidFill>
                <a:latin typeface="微軟正黑體"/>
              </a:rPr>
              <a:t>時間都花在哪？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222222"/>
                </a:solidFill>
                <a:latin typeface="微軟正黑體"/>
              </a:rPr>
              <a:t>• 資料整理（ERP / Excel / PDF / 問卷）：30%</a:t>
            </a:r>
          </a:p>
          <a:p>
            <a:pPr algn="l">
              <a:spcAft>
                <a:spcPts val="800"/>
              </a:spcAft>
            </a:pPr>
            <a:r>
              <a:rPr sz="2400">
                <a:solidFill>
                  <a:srgbClr val="222222"/>
                </a:solidFill>
                <a:latin typeface="微軟正黑體"/>
              </a:rPr>
              <a:t>• 框架對應（GRI / ISSB / 金管會）：20%</a:t>
            </a:r>
          </a:p>
          <a:p>
            <a:pPr algn="l">
              <a:spcAft>
                <a:spcPts val="800"/>
              </a:spcAft>
            </a:pPr>
            <a:r>
              <a:rPr sz="2400">
                <a:solidFill>
                  <a:srgbClr val="222222"/>
                </a:solidFill>
                <a:latin typeface="微軟正黑體"/>
              </a:rPr>
              <a:t>• 章節撰寫：25%</a:t>
            </a:r>
          </a:p>
          <a:p>
            <a:pPr algn="l">
              <a:spcAft>
                <a:spcPts val="800"/>
              </a:spcAft>
            </a:pPr>
            <a:r>
              <a:rPr sz="2400">
                <a:solidFill>
                  <a:srgbClr val="222222"/>
                </a:solidFill>
                <a:latin typeface="微軟正黑體"/>
              </a:rPr>
              <a:t>• 確信前置 / 證據鏈整理：15%</a:t>
            </a:r>
          </a:p>
          <a:p>
            <a:pPr algn="l">
              <a:spcAft>
                <a:spcPts val="800"/>
              </a:spcAft>
            </a:pPr>
            <a:r>
              <a:rPr sz="2400">
                <a:solidFill>
                  <a:srgbClr val="222222"/>
                </a:solidFill>
                <a:latin typeface="微軟正黑體"/>
              </a:rPr>
              <a:t>• 雜事與來回：10%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C6633"/>
                </a:solidFill>
                <a:latin typeface="微軟正黑體"/>
              </a:rPr>
              <a:t>→ 機械重複工作佔 60%+，susr 幫你拿回這段時間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為什麼不是「自動報告書機器」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5F4A"/>
                </a:solidFill>
                <a:latin typeface="微軟正黑體"/>
              </a:rPr>
              <a:t>Co-pilot ≠ Replacement（核心戰略選擇）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6386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AI 適合做的：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機械重複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結構化查找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框架對應檢核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證據鏈整理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011680"/>
            <a:ext cx="56386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顧問適合做的：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雙重重大性判斷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議合策略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敘事張力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・ 簽核與責任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susr 的定位（一句話）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5F4A"/>
                </a:solidFill>
                <a:latin typeface="微軟正黑體"/>
              </a:rPr>
              <a:t>「讓顧問能在同樣時間內，產出品質更高、框架更完整、故事更動人的永續報告書，責任 100% 在顧問判斷。」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0">
                <a:solidFill>
                  <a:srgbClr val="555555"/>
                </a:solidFill>
                <a:latin typeface="微軟正黑體"/>
              </a:rPr>
              <a:t>— susr 三原則文件（docs/defeinition.md）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給誰用 / 不給誰用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6432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5F4A"/>
                </a:solidFill>
                <a:latin typeface="微軟正黑體"/>
              </a:rPr>
              <a:t>✓ 適合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獨立顧問 / 小型顧問公司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（決策快、痛點具體）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服務多家客戶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（需要跨案累積方法論）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重視 audit trail / 反綠色洗白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371600"/>
            <a:ext cx="536432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C6633"/>
                </a:solidFill>
                <a:latin typeface="微軟正黑體"/>
              </a:rPr>
              <a:t>✗ 不適合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想省顧問費的企業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（系統不取代你）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只做一次性報告、無 KB 累積需求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（ROI 不划算）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系統概覽 — 三層架構 + 顧問專屬功能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4415" cy="1097280"/>
          </a:xfrm>
          <a:prstGeom prst="roundRect">
            <a:avLst/>
          </a:prstGeom>
          <a:solidFill>
            <a:srgbClr val="E8F0EB"/>
          </a:solidFill>
          <a:ln w="19050">
            <a:solidFill>
              <a:srgbClr val="1F5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F4A"/>
                </a:solidFill>
                <a:latin typeface="微軟正黑體"/>
              </a:rPr>
              <a:t>輸入層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325880"/>
            <a:ext cx="7619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微軟正黑體"/>
              </a:rPr>
              <a:t>Excel / PDF / ERP / 問卷 / 舊報告 → RAG 自動抽指標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1094415" cy="1097280"/>
          </a:xfrm>
          <a:prstGeom prst="roundRect">
            <a:avLst/>
          </a:prstGeom>
          <a:solidFill>
            <a:srgbClr val="DDEAE1"/>
          </a:solidFill>
          <a:ln w="19050">
            <a:solidFill>
              <a:srgbClr val="1F5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F4A"/>
                </a:solidFill>
                <a:latin typeface="微軟正黑體"/>
              </a:rPr>
              <a:t>智能層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606040"/>
            <a:ext cx="7619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微軟正黑體"/>
              </a:rPr>
              <a:t>GRI / ISSB / 金管會多框架 + 雙重重大性 + IRO 連結 + 差距分析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1094415" cy="1097280"/>
          </a:xfrm>
          <a:prstGeom prst="roundRect">
            <a:avLst/>
          </a:prstGeom>
          <a:solidFill>
            <a:srgbClr val="E8F0EB"/>
          </a:solidFill>
          <a:ln w="19050">
            <a:solidFill>
              <a:srgbClr val="1F5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8619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F4A"/>
                </a:solidFill>
                <a:latin typeface="微軟正黑體"/>
              </a:rPr>
              <a:t>輸出層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886199"/>
            <a:ext cx="7619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微軟正黑體"/>
              </a:rPr>
              <a:t>可編輯 Word/GDocs / 視覺化 / 版本管理 / 一鍵注入專業觀點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094415" cy="1097280"/>
          </a:xfrm>
          <a:prstGeom prst="roundRect">
            <a:avLst/>
          </a:prstGeom>
          <a:solidFill>
            <a:srgbClr val="FAE6D9"/>
          </a:solidFill>
          <a:ln w="19050">
            <a:solidFill>
              <a:srgbClr val="1F5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F4A"/>
                </a:solidFill>
                <a:latin typeface="微軟正黑體"/>
              </a:rPr>
              <a:t>顧問專屬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5166360"/>
            <a:ext cx="7619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微軟正黑體"/>
              </a:rPr>
              <a:t>顧問 KB（學會「我們的語氣」）+ 多客戶儀表板 + 團隊協作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17 種實體 + 19 條 typed edges — Knowledge Graph 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5F4A"/>
                </a:solidFill>
                <a:latin typeface="微軟正黑體"/>
              </a:rPr>
              <a:t>用力麗 5364 案例：95 pages / 70 edges / 9 entity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Topic（議題）28 個 — 雙軸評分 + materiality_tier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IRO（衝擊/風險/機會）14 個 — type / category / time_horizon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Action（行動方案）14 個 — budget / progress / owner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KPI（指標）8 個 — formula / boundary / framework_refs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Target（目標）3 個 — 基線 / 時程 / 驗證路徑（三要素）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Stakeholder / Engagement / Governance / Framework / Chapter /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Phase 3：雙重重大性評估（MVP 核心）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4 個 MCP tools 端到端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search_topics_universe（產業議題候選池）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紡織業 / 觀光業 / 半導體業特化議題池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score_topic_dual_axis（雙軸評分）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Impact × Financial + 顧問 explicit 覆寫 + audit trail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link_topic_to_iro（IRO 連結）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物理 / 轉型 / 機會 三類，自動建 topic_has_iro edge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generate_materiality_matrix（矩陣 + tier_overrides）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.md + .svg + 顧問覆寫差距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Phase 7：Gap Analysis（反綠色洗白）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4 個 MCP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run_compliance_checklist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60+ 項 GRI / ISSB / 金管會合規檢查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generate_gri_content_index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自動產出 GRI Content Index 表 + 涵蓋率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generate_assurance_readiness_checklist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確信師上場前的 KPI / DataPoint 自我健檢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run_full_gap_analysis（整合 aggregator）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critical / warning / info 三層 severity + 修補建議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Phase 6：報告組裝（payload prep）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4 個 MCP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prepare_docx_payload — 整份報告書（chapters + matrix + KPIs）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prepare_pdf_payload — 同 + iXBRL 標記預留（金管會 2028）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prepare_pptx_investor_deck — 10-15 頁投資人版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prepare_pptx_board_deck — 5-8 頁董事會版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重點：susr 不渲染文檔，只組裝資料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真實渲染由 anthropics/skills 的 docx/pdf/pptx skill 處理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保留所有 source reference + tier_overrides warning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6 條連結性 Invariants（反綠色洗白護城河）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lealea fixture 6/6 全綠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" cy="548640"/>
          </a:xfrm>
          <a:prstGeom prst="round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I1a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17320"/>
            <a:ext cx="96313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核心 topic 必有 IRO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97280" cy="548640"/>
          </a:xfrm>
          <a:prstGeom prst="round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97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I1b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94560"/>
            <a:ext cx="96313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IRO 必有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1097280" cy="548640"/>
          </a:xfrm>
          <a:prstGeom prst="round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97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I2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71800"/>
            <a:ext cx="96313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Chapter conformsTo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97280" cy="548640"/>
          </a:xfrm>
          <a:prstGeom prst="round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1097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I3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749040"/>
            <a:ext cx="96313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Target 三要素齊（基線 / 時程 / 驗證路徑）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1097280" cy="548640"/>
          </a:xfrm>
          <a:prstGeom prst="round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097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I4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26280"/>
            <a:ext cx="96313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DataPoint 可追溯（必有 SourceDoc）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1097280" cy="548640"/>
          </a:xfrm>
          <a:prstGeom prst="round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1097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I5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03520"/>
            <a:ext cx="96313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排放 DataPoint 對應有效 EmissionFactor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Audit Trail：page_versions +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確信師質疑時，一秒給整條鏈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F4A"/>
                </a:solidFill>
                <a:latin typeface="微軟正黑體"/>
              </a:rPr>
              <a:t>每個 KPI 數字背後：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來源（SourceDoc / 環境部排放因子版本）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公式（kWh × factor / 員工數 / 房間數 / 營收）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計算邊界（合併 / 營運控制 / 股權法）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責任人 / 驗證者 / 確信狀態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時間戳 + 操作紀錄（ingest / verify / restate / assure）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C6633"/>
                </a:solidFill>
                <a:latin typeface="微軟正黑體"/>
              </a:rPr>
              <a:t>跨年 restate &gt; 5% → 自動偵測 + 強制揭露原因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反綠色洗白 hard rule，工具層強制（不能用「忘了揭」當藉口）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場景 1：接到新客戶第一週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30 秒建立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F4A"/>
                </a:solidFill>
                <a:latin typeface="微軟正黑體"/>
              </a:rPr>
              <a:t>顧問：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「幫我建一個叫 acme-1234 的客戶 workspace。紡織業上市櫃，2025 永續報告書，營運控制法，GRI + ISSB + 金管會。」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F4A"/>
                </a:solidFill>
                <a:latin typeface="微軟正黑體"/>
              </a:rPr>
              <a:t>Claude Desktop（透過 susr-mcp）：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建立 ~/susr-clients/acme-1234/（獨立 git repo）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初始 commit + shared_kb snapshot 13 個檔案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entities/{topics,stakeholders,governance,kpis,targets}/ 結構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projects/2025-sustainability-report/ + .susr/db.sqlite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場景 2：跨年延續（第二年怎麼用上一年資料）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cp -r projects/2025-sr/  projects/2026-sr/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fork 為 2026 baseline（含 framework_version）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entities/ 跨年常駐（議題池、利害關係人、KPI 定義、目標）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不必重評議題（只增量更新）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KPI 自動 carry over values_by_year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Restatement 跨年比對：&gt; 5% 自動偵測 + 揭露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→ 反綠色洗白機制不請假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→ 第二年顧問時間從 40-80h 進一步壓縮到 4-8h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場景 3：客戶問「為什麼用這個排放因子？」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F4A"/>
                </a:solidFill>
                <a:latin typeface="微軟正黑體"/>
              </a:rPr>
              <a:t>確信師 / 客戶質疑時的證據鏈追溯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顧問：「acme-1234 Scope 2 用什麼排放因子？」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F4A"/>
                </a:solidFill>
                <a:latin typeface="微軟正黑體"/>
              </a:rPr>
              <a:t>Brain 一秒回應：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EmissionFactor：環境部 113 年度（version=2024-Q1）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effective_from: 2024-04-01 ~ effective_to: 2025-03-31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由顧問 Mary 於 2024-04-15 ingest，verified by John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DataPoint 經 derivedFrom 連到台電帳單 PDF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確信狀態：第三方有限確信（assurance: limited）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場景 4：把客戶經驗變方法論（顧問 KB 單向闘）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5F4A"/>
                </a:solidFill>
                <a:latin typeface="微軟正黑體"/>
              </a:rPr>
              <a:t>promote_to_consultant_kb 兩步驟 confirm 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Step 1: dry-run → 回 {needs_confirm: True, confirm_token: &lt;sha&gt;}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Step 2: 帶 token + reviewer 簽核 → 真寫 consultant-kb + audit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C6633"/>
                </a:solidFill>
                <a:latin typeface="微軟正黑體"/>
              </a:rPr>
              <a:t>Hard Rules（工具層強制）：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Client 之間絕不互通（每個 client 獨立 git repo）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Client → consultant-kb 必須手動匿名化 + reviewer 審核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微軟正黑體"/>
              </a:rPr>
              <a:t>• consultant-kb → 新 client 可讀（方法論複用）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安裝與啟動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5 分鐘從零到能用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5F4A"/>
                </a:solidFill>
                <a:latin typeface="微軟正黑體"/>
              </a:rPr>
              <a:t>1. 安裝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</a:rPr>
              <a:t>pip install susr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5F4A"/>
                </a:solidFill>
                <a:latin typeface="微軟正黑體"/>
              </a:rPr>
              <a:t>2. 設定 Claude Desktop MCP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微軟正黑體"/>
              </a:rPr>
              <a:t>{
  "mcpServers": {
    "susr": { "command": "susr-mcp" }
  }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5F4A"/>
                </a:solidFill>
                <a:latin typeface="微軟正黑體"/>
              </a:rPr>
              <a:t>3. 重啟 Claude Desktop → 開新對話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微軟正黑體"/>
              </a:rPr>
              <a:t>右下角 icon 含 19 個 susr 工具就 OK，開始對話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安全與隱私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Local-first — 所有資料在你本機（不上雲）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brain DB = .susr/db.sqlite，可備份 / 加密 / 移動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Per-client 獨立 git repo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可推到 client 自有 GitHub / GitLab / private remote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顧問 KB 單向闘（工具層強制 hard rule）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client 之間絕不互通；KB ← client 必手動匿名 + review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預設本地 embedding（BGE-M3）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client-level 可選雲端（顧問需在客戶授權後切換）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限制（誠實揭露）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軟正黑體"/>
              </a:rPr>
              <a:t>對使用者誠實的前提，是先對自己誠實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✗ Phase 4 GHG 計算引擎未實作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顧問仍用 xlsx skill 手算 Scope 1/2/3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✗ Phase 5 章節 LLM 自動草稿未實作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顧問用 brain 整理素材，章節敘事仍人寫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✗ Phase 8 公告 / MOPS filing 未實作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⏳ Claude Desktop stdio 端到端待 mcp SDK 環境驗證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→ susr v0.1 = Phase 3 重大性評估 + Phase 6 payload + Phase 7 gap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  其他 phases 仍仰賴顧問既有工具與判斷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怎麼加入 / 試用 / 給回饋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F4A"/>
                </a:solidFill>
                <a:latin typeface="微軟正黑體"/>
              </a:rPr>
              <a:t>現在可以做的：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GitHub: M4ORE/m4ore-skill-susr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pip install susr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閱讀 docs/user-guide/scenarios/（4 個顧問場景）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閱讀 docs/demo/lealea-phase3-quickstart.md（30 分鐘逐句腳本）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CC6633"/>
                </a:solidFill>
                <a:latin typeface="微軟正黑體"/>
              </a:rPr>
              <a:t>我們在找 design partner：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3-5 家獨立顧問 / 小型顧問公司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願意提供 1-2 個客戶 case 做 design partnership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微軟正黑體"/>
              </a:rPr>
              <a:t>• 回饋頻率高、共建方法論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